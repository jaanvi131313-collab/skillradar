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43891200" cy="32918400"/>
  <p:notesSz cx="6858000" cy="9144000"/>
  <p:defaultTextStyle>
    <a:defPPr>
      <a:defRPr lang="en-US"/>
    </a:defPPr>
    <a:lvl1pPr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2193925" indent="-1736725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4387850" indent="-3473450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6583363" indent="-5211763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8777288" indent="-6948488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1308"/>
    <a:srgbClr val="DC4D3A"/>
    <a:srgbClr val="B1251C"/>
    <a:srgbClr val="052754"/>
    <a:srgbClr val="D74520"/>
    <a:srgbClr val="5771A1"/>
    <a:srgbClr val="DE62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4674"/>
  </p:normalViewPr>
  <p:slideViewPr>
    <p:cSldViewPr snapToObjects="1">
      <p:cViewPr varScale="1">
        <p:scale>
          <a:sx n="15" d="100"/>
          <a:sy n="15" d="100"/>
        </p:scale>
        <p:origin x="1244" y="132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3E645C15-BC93-A44A-A06A-B4B04C4ED5F7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E72FF227-20E3-6C4F-8C56-249F9EE6D5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231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ＭＳ Ｐゴシック" pitchFamily="-108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886200"/>
            <a:ext cx="43891200" cy="290322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4038600"/>
            <a:ext cx="43891200" cy="0"/>
          </a:xfrm>
          <a:prstGeom prst="line">
            <a:avLst/>
          </a:prstGeom>
          <a:ln w="3810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74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ackground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886200"/>
            <a:ext cx="43891200" cy="290322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4038600"/>
            <a:ext cx="43891200" cy="0"/>
          </a:xfrm>
          <a:prstGeom prst="line">
            <a:avLst/>
          </a:prstGeom>
          <a:ln w="3810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81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  <a:prstGeom prst="rect">
            <a:avLst/>
          </a:prstGeo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E4A1045-DEEA-8946-B37B-F877AEF129FC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9A86B2-360D-E24E-B447-F98F32436C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6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  <a:prstGeom prst="rect">
            <a:avLst/>
          </a:prstGeo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  <a:prstGeom prst="rect">
            <a:avLst/>
          </a:prstGeo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5F8FCF0-B109-4E41-830D-87865EE91AB8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BA0FE9-D76A-B441-9EDF-101CA9A46B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1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  <a:prstGeom prst="rect">
            <a:avLst/>
          </a:prstGeo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  <a:prstGeom prst="rect">
            <a:avLst/>
          </a:prstGeo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C552A1-6EB6-214B-B59F-414060EFC9BA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8AD041-EDB0-4D41-9E5B-79FB902190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9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22401C-AAEC-224B-B0FC-7E890D4BAFD9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6EED259-E526-8742-8A7F-7FDFE05072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5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6E7D08-D5EF-6242-865A-CE48CC4D2D04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93F65F-BDD2-7143-9DB4-7F6E1DC015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0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  <a:prstGeom prst="rect">
            <a:avLst/>
          </a:prstGeo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  <a:prstGeom prst="rect">
            <a:avLst/>
          </a:prstGeo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1F0F8D-0D4A-614C-B06A-DCF9395ADB14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F3A24D-1705-F04C-93FD-1C69EE75A3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4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  <a:prstGeom prst="rect">
            <a:avLst/>
          </a:prstGeo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30288A-D7A5-0941-93D1-D21B196E9A39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C608315-0CFA-A846-8E58-42DE526B44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7680325"/>
            <a:ext cx="39503350" cy="217249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E7CA6F-884E-634E-A75A-572F483F8848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23B04B-B7F2-FF4D-8077-EF3B1F9C6B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1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9D8FB5-0612-A746-80CF-DDCC9E0BE654}" type="datetime1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C0733A-467B-FA4F-A4AA-CB0DB15665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4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2193925" rtl="0" eaLnBrk="1" fontAlgn="base" hangingPunct="1">
        <a:spcBef>
          <a:spcPct val="0"/>
        </a:spcBef>
        <a:spcAft>
          <a:spcPct val="0"/>
        </a:spcAft>
        <a:defRPr sz="21100" kern="1200">
          <a:solidFill>
            <a:schemeClr val="tx1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2pPr>
      <a:lvl3pPr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3pPr>
      <a:lvl4pPr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4pPr>
      <a:lvl5pPr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6pPr>
      <a:lvl7pPr marL="914400"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7pPr>
      <a:lvl8pPr marL="1371600"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8pPr>
      <a:lvl9pPr marL="1828800" algn="ctr" defTabSz="2193925" rtl="0" eaLnBrk="1" fontAlgn="base" hangingPunct="1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9pPr>
    </p:titleStyle>
    <p:bodyStyle>
      <a:lvl1pPr marL="1644650" indent="-1644650" algn="l" defTabSz="2193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400" kern="1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3565525" indent="-1371600" algn="l" defTabSz="2193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400" kern="1200">
          <a:solidFill>
            <a:schemeClr val="tx1"/>
          </a:solidFill>
          <a:latin typeface="+mn-lt"/>
          <a:ea typeface="ＭＳ Ｐゴシック" pitchFamily="-108" charset="-128"/>
          <a:cs typeface="+mn-cs"/>
        </a:defRPr>
      </a:lvl2pPr>
      <a:lvl3pPr marL="5486400" indent="-1096963" algn="l" defTabSz="2193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1500" kern="1200">
          <a:solidFill>
            <a:schemeClr val="tx1"/>
          </a:solidFill>
          <a:latin typeface="+mn-lt"/>
          <a:ea typeface="ＭＳ Ｐゴシック" pitchFamily="-108" charset="-128"/>
          <a:cs typeface="+mn-cs"/>
        </a:defRPr>
      </a:lvl3pPr>
      <a:lvl4pPr marL="7680325" indent="-1096963" algn="l" defTabSz="2193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9600" kern="1200">
          <a:solidFill>
            <a:schemeClr val="tx1"/>
          </a:solidFill>
          <a:latin typeface="+mn-lt"/>
          <a:ea typeface="ＭＳ Ｐゴシック" pitchFamily="-108" charset="-128"/>
          <a:cs typeface="+mn-cs"/>
        </a:defRPr>
      </a:lvl4pPr>
      <a:lvl5pPr marL="9874250" indent="-1096963" algn="l" defTabSz="21939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9600" kern="1200">
          <a:solidFill>
            <a:schemeClr val="tx1"/>
          </a:solidFill>
          <a:latin typeface="+mn-lt"/>
          <a:ea typeface="ＭＳ Ｐゴシック" pitchFamily="-108" charset="-128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20" Type="http://schemas.openxmlformats.org/officeDocument/2006/relationships/image" Target="../media/mod_cls.png"/><Relationship Id="rId21" Type="http://schemas.openxmlformats.org/officeDocument/2006/relationships/image" Target="../media/mod_mis.png"/><Relationship Id="rId22" Type="http://schemas.openxmlformats.org/officeDocument/2006/relationships/image" Target="../media/mod_sal.png"/><Relationship Id="rId23" Type="http://schemas.openxmlformats.org/officeDocument/2006/relationships/image" Target="../media/mod_cm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91"/>
          <p:cNvSpPr txBox="1">
            <a:spLocks noChangeArrowheads="1"/>
          </p:cNvSpPr>
          <p:nvPr/>
        </p:nvSpPr>
        <p:spPr bwMode="auto">
          <a:xfrm>
            <a:off x="391295" y="2858354"/>
            <a:ext cx="416052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131F33"/>
                </a:solidFill>
                <a:latin typeface="Georgia"/>
                <a:ea typeface="Georgia"/>
              </a:rPr>
              <a:t>PROJECT TITLE: </a:t>
            </a:r>
            <a:r>
              <a:rPr lang="en-US" sz="4000" b="1" dirty="0">
                <a:solidFill>
                  <a:srgbClr val="A40000"/>
                </a:solidFill>
                <a:latin typeface="Georgia"/>
                <a:ea typeface="Georgia"/>
              </a:rPr>
              <a:t>SkillRadar: A Gamified 3D Career Exploration and Skill Development Platform for College Students</a:t>
            </a:r>
          </a:p>
        </p:txBody>
      </p:sp>
      <p:sp>
        <p:nvSpPr>
          <p:cNvPr id="15363" name="Rectangle 35"/>
          <p:cNvSpPr>
            <a:spLocks noChangeArrowheads="1"/>
          </p:cNvSpPr>
          <p:nvPr/>
        </p:nvSpPr>
        <p:spPr bwMode="auto">
          <a:xfrm>
            <a:off x="26233539" y="4555849"/>
            <a:ext cx="17375480" cy="484447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274320" rIns="360000" bIns="182880"/>
          <a:lstStyle/>
          <a:p>
            <a:pPr>
              <a:spcBef>
                <a:spcPct val="50000"/>
              </a:spcBef>
            </a:pPr>
            <a:r>
              <a:rPr lang="en-GB" sz="4000" b="1" u="sng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</a:t>
            </a:r>
            <a:endParaRPr lang="en-GB" sz="4000" b="1" dirty="0">
              <a:solidFill>
                <a:srgbClr val="131F33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Source: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one audited workbook, Dataset.xlsx (15 sheets, 8.8 MB, tabular + job-description text).</a:t>
            </a:r>
          </a:p>
          <a:p>
            <a:pPr marL="457200" indent="-4572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Size: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16,459 raw rows → </a:t>
            </a: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16,001 clean postings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; 66 roles; 136 skills; 12,324 posting–skill links; 992 human-checked gold labels.</a:t>
            </a:r>
          </a:p>
          <a:p>
            <a:pPr marL="457200" indent="-4572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Origin: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Fliar BI salaries (CC BY-NC 4.0), LinkedIn tech sample, Headcount Labs – hence educational use only.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Limit: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only 2,057 postings have descriptions for text analysis.</a:t>
            </a:r>
          </a:p>
        </p:txBody>
      </p:sp>
      <p:sp>
        <p:nvSpPr>
          <p:cNvPr id="15364" name="Rectangle 33"/>
          <p:cNvSpPr>
            <a:spLocks noChangeArrowheads="1"/>
          </p:cNvSpPr>
          <p:nvPr/>
        </p:nvSpPr>
        <p:spPr bwMode="auto">
          <a:xfrm>
            <a:off x="270648" y="20131608"/>
            <a:ext cx="9305871" cy="105324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360000" rIns="360000" bIns="360000"/>
          <a:lstStyle/>
          <a:p>
            <a:pPr>
              <a:spcBef>
                <a:spcPct val="50000"/>
              </a:spcBef>
            </a:pPr>
            <a:r>
              <a:rPr lang="en-GB" sz="4000" b="1" u="sng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 AND OBJECTIVES: 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Problem: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students lack one trustworthy place to (a) explore roles backed by market data, (b) measure skills with verified evidence, (c) see how far they are from a target role and (d) get a plan to close the gap.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31F33"/>
                </a:solidFill>
                <a:latin typeface="Cambria"/>
                <a:ea typeface="Cambria"/>
              </a:rPr>
              <a:t>Objectives</a:t>
            </a:r>
          </a:p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Explore roles, salaries and hiring cities from a real, audited dataset.</a:t>
            </a:r>
          </a:p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Assess skills via scenario quizzes and job simulations, tagging each skill with its evidence type.</a:t>
            </a:r>
          </a:p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Compute a transparent role-fit score with an evidence-completeness percentage.</a:t>
            </a:r>
          </a:p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Generate a weekly roadmap from skill gaps and the hours a student has.</a:t>
            </a:r>
          </a:p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Deliver it as a 3D hub with 2D fallback that deploys easily on open platforms.</a:t>
            </a:r>
          </a:p>
        </p:txBody>
      </p:sp>
      <p:sp>
        <p:nvSpPr>
          <p:cNvPr id="15365" name="Rectangle 49"/>
          <p:cNvSpPr>
            <a:spLocks noChangeArrowheads="1"/>
          </p:cNvSpPr>
          <p:nvPr/>
        </p:nvSpPr>
        <p:spPr bwMode="auto">
          <a:xfrm>
            <a:off x="271192" y="4485931"/>
            <a:ext cx="9333455" cy="1515364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360000" rIns="360000" bIns="360000"/>
          <a:lstStyle/>
          <a:p>
            <a:pPr>
              <a:spcBef>
                <a:spcPct val="50000"/>
              </a:spcBef>
            </a:pPr>
            <a:r>
              <a:rPr lang="en-GB" sz="4000" b="1" u="sng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57200" indent="-457200"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Most college students choose a career without knowing what employers ask for, how their skills measure up, or what to study next.</a:t>
            </a:r>
          </a:p>
          <a:p>
            <a:pPr marL="457200" indent="-457200"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Job portals only list vacancies, quizzes only give marks and course sites only offer courses – none shows the distance to a role.</a:t>
            </a:r>
          </a:p>
          <a:p>
            <a:pPr marL="457200" indent="-457200"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en-US" sz="3600" b="1" dirty="0">
                <a:solidFill>
                  <a:srgbClr val="1A1A1A"/>
                </a:solidFill>
                <a:latin typeface="Cambria"/>
                <a:ea typeface="Cambria"/>
              </a:rPr>
              <a:t>SkillRadar</a:t>
            </a: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 joins market data, skill testing, role matching, job simulations and a weekly roadmap in one gamified web platform: a walkable </a:t>
            </a:r>
            <a:r>
              <a:rPr lang="en-US" sz="3600" b="1" dirty="0">
                <a:solidFill>
                  <a:srgbClr val="1A1A1A"/>
                </a:solidFill>
                <a:latin typeface="Cambria"/>
                <a:ea typeface="Cambria"/>
              </a:rPr>
              <a:t>3D spaceship hub</a:t>
            </a: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 with a </a:t>
            </a:r>
            <a:r>
              <a:rPr lang="en-US" sz="3600" b="1" dirty="0">
                <a:solidFill>
                  <a:srgbClr val="1A1A1A"/>
                </a:solidFill>
                <a:latin typeface="Cambria"/>
                <a:ea typeface="Cambria"/>
              </a:rPr>
              <a:t>2D console</a:t>
            </a: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 fallback.</a:t>
            </a:r>
          </a:p>
          <a:p>
            <a:pPr marL="457200" indent="-457200"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Everything rests on an audited workbook of </a:t>
            </a:r>
            <a:r>
              <a:rPr lang="en-US" sz="3600" b="1" dirty="0">
                <a:solidFill>
                  <a:srgbClr val="1A1A1A"/>
                </a:solidFill>
                <a:latin typeface="Cambria"/>
                <a:ea typeface="Cambria"/>
              </a:rPr>
              <a:t>16,001 cleaned job postings, 66 roles and 136 skills</a:t>
            </a: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.</a:t>
            </a:r>
          </a:p>
          <a:p>
            <a:pPr marL="457200" indent="-457200"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en-US" sz="3600" dirty="0">
                <a:solidFill>
                  <a:srgbClr val="1A1A1A"/>
                </a:solidFill>
                <a:latin typeface="Cambria"/>
                <a:ea typeface="Cambria"/>
              </a:rPr>
              <a:t>Scores show alignment with dataset requirements; they are not a promise of getting a job.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9992273" y="4505180"/>
            <a:ext cx="15841760" cy="2615884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360000" rIns="360000" bIns="360000"/>
          <a:lstStyle/>
          <a:p>
            <a:pPr marL="381000" indent="-381000">
              <a:spcBef>
                <a:spcPct val="50000"/>
              </a:spcBef>
            </a:pPr>
            <a:r>
              <a:rPr lang="en-GB" sz="4000" b="1" u="sng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 </a:t>
            </a:r>
            <a:endParaRPr lang="en-GB" sz="4000" b="1" dirty="0">
              <a:solidFill>
                <a:srgbClr val="131F33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368" name="Rectangle 52"/>
          <p:cNvSpPr>
            <a:spLocks noChangeArrowheads="1"/>
          </p:cNvSpPr>
          <p:nvPr/>
        </p:nvSpPr>
        <p:spPr bwMode="auto">
          <a:xfrm>
            <a:off x="26242467" y="9752335"/>
            <a:ext cx="17366552" cy="181085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360000" rIns="360000" bIns="360000"/>
          <a:lstStyle/>
          <a:p>
            <a:pPr>
              <a:spcBef>
                <a:spcPct val="50000"/>
              </a:spcBef>
            </a:pPr>
            <a:r>
              <a:rPr lang="en-GB" sz="4000" b="1" u="sng" dirty="0">
                <a:solidFill>
                  <a:srgbClr val="05275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AND DISCUSSION: </a:t>
            </a:r>
          </a:p>
        </p:txBody>
      </p:sp>
      <p:sp>
        <p:nvSpPr>
          <p:cNvPr id="15370" name="Rectangle 34"/>
          <p:cNvSpPr>
            <a:spLocks noChangeArrowheads="1"/>
          </p:cNvSpPr>
          <p:nvPr/>
        </p:nvSpPr>
        <p:spPr bwMode="auto">
          <a:xfrm>
            <a:off x="26242466" y="28268512"/>
            <a:ext cx="17161517" cy="236249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228600" rIns="360000" bIns="137160"/>
          <a:lstStyle/>
          <a:p>
            <a:pPr>
              <a:spcBef>
                <a:spcPct val="50000"/>
              </a:spcBef>
            </a:pPr>
            <a:r>
              <a:rPr lang="en-GB" sz="4000" b="1" u="sng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CONCLUSIONS:</a:t>
            </a:r>
          </a:p>
          <a:p>
            <a:pPr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Cambria"/>
                <a:ea typeface="Cambria"/>
              </a:rPr>
              <a:t>SkillRadar turns job-market data, verified skill evidence and an explainable score into a weekly plan. Demo profile: </a:t>
            </a:r>
            <a:r>
              <a:rPr lang="en-US" sz="2600" b="1" dirty="0">
                <a:solidFill>
                  <a:srgbClr val="1A1A1A"/>
                </a:solidFill>
                <a:latin typeface="Cambria"/>
                <a:ea typeface="Cambria"/>
              </a:rPr>
              <a:t>31% Data Analyst fit at 42% evidence completeness</a:t>
            </a:r>
            <a:r>
              <a:rPr lang="en-US" sz="2600" dirty="0">
                <a:solidFill>
                  <a:srgbClr val="1A1A1A"/>
                </a:solidFill>
                <a:latin typeface="Cambria"/>
                <a:ea typeface="Cambria"/>
              </a:rPr>
              <a:t>; the role classifier reaches </a:t>
            </a:r>
            <a:r>
              <a:rPr lang="en-US" sz="2600" b="1" dirty="0">
                <a:solidFill>
                  <a:srgbClr val="1A1A1A"/>
                </a:solidFill>
                <a:latin typeface="Cambria"/>
                <a:ea typeface="Cambria"/>
              </a:rPr>
              <a:t>82.4% accuracy</a:t>
            </a:r>
            <a:r>
              <a:rPr lang="en-US" sz="2600" dirty="0">
                <a:solidFill>
                  <a:srgbClr val="1A1A1A"/>
                </a:solidFill>
                <a:latin typeface="Cambria"/>
                <a:ea typeface="Cambria"/>
              </a:rPr>
              <a:t>, +57.7 pts over the 24.7% baseline.</a:t>
            </a:r>
          </a:p>
        </p:txBody>
      </p:sp>
      <p:sp>
        <p:nvSpPr>
          <p:cNvPr id="25" name="Rectangle 35"/>
          <p:cNvSpPr>
            <a:spLocks noChangeArrowheads="1"/>
          </p:cNvSpPr>
          <p:nvPr/>
        </p:nvSpPr>
        <p:spPr bwMode="auto">
          <a:xfrm>
            <a:off x="343200" y="31089499"/>
            <a:ext cx="31256621" cy="15715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100000" rIns="360000" bIns="100000" anchor="ctr"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31F33"/>
                </a:solidFill>
                <a:latin typeface="Georgia"/>
                <a:ea typeface="Georgia"/>
              </a:rPr>
              <a:t>GROUP MEMBERS: </a:t>
            </a:r>
            <a:r>
              <a:rPr lang="en-US" sz="32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Jaanvi Rai (PRN: 25030422052)  |  Aina Jain (PRN: 25030422012)  |  Sannidhi Mutyala (PRN: 25030422075)</a:t>
            </a:r>
          </a:p>
        </p:txBody>
      </p:sp>
      <p:sp>
        <p:nvSpPr>
          <p:cNvPr id="27" name="Rectangle 35"/>
          <p:cNvSpPr>
            <a:spLocks noChangeArrowheads="1"/>
          </p:cNvSpPr>
          <p:nvPr/>
        </p:nvSpPr>
        <p:spPr bwMode="auto">
          <a:xfrm>
            <a:off x="31922242" y="31038599"/>
            <a:ext cx="11686777" cy="1622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0" tIns="60000" rIns="360000" bIns="60000" anchor="ctr"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31F33"/>
                </a:solidFill>
                <a:latin typeface="Cambria"/>
                <a:ea typeface="Cambria"/>
              </a:rPr>
              <a:t>PROJECT MENTOR NAME: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Dr. Bela Joglekar</a:t>
            </a:r>
          </a:p>
        </p:txBody>
      </p:sp>
      <p:pic>
        <p:nvPicPr>
          <p:cNvPr id="8" name="Picture 4" descr="Symbiosis International (Deemed University) | India's Leading University  for Undergraduate &amp; Post Graduate Programs">
            <a:extLst>
              <a:ext uri="{FF2B5EF4-FFF2-40B4-BE49-F238E27FC236}">
                <a16:creationId xmlns:a16="http://schemas.microsoft.com/office/drawing/2014/main" id="{E6909752-A8E8-B597-9782-A5794F22A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3311" y="0"/>
            <a:ext cx="4210673" cy="372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0940659" y="10876"/>
            <a:ext cx="24641041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200" b="1" dirty="0">
                <a:solidFill>
                  <a:srgbClr val="C4130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Symbiosis Artificial Intelligence Institute</a:t>
            </a:r>
          </a:p>
        </p:txBody>
      </p:sp>
      <p:pic>
        <p:nvPicPr>
          <p:cNvPr id="14" name="Picture 2" descr="Logo of Symbiosis Artificial Intelligence Institute - SAII">
            <a:extLst>
              <a:ext uri="{FF2B5EF4-FFF2-40B4-BE49-F238E27FC236}">
                <a16:creationId xmlns:a16="http://schemas.microsoft.com/office/drawing/2014/main" id="{72982120-38E1-4C9B-A96A-E50913F1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9049" cy="180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71" name="TextBox 15370"/>
          <p:cNvSpPr txBox="1"/>
          <p:nvPr/>
        </p:nvSpPr>
        <p:spPr>
          <a:xfrm>
            <a:off x="10351008" y="5532120"/>
            <a:ext cx="1508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A40000"/>
                </a:solidFill>
                <a:latin typeface="Cambria"/>
                <a:ea typeface="Cambria"/>
              </a:rPr>
              <a:t>Project framework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10351008" y="621792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mbria"/>
                <a:ea typeface="Cambria"/>
              </a:rPr>
              <a:t>Dataset.xlsx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mbria"/>
                <a:ea typeface="Cambria"/>
              </a:rPr>
              <a:t>16,001 clean postings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14941296" y="6629400"/>
            <a:ext cx="603503" cy="4114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Rounded Rectangle 15373"/>
          <p:cNvSpPr/>
          <p:nvPr/>
        </p:nvSpPr>
        <p:spPr>
          <a:xfrm>
            <a:off x="15654528" y="621792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mbria"/>
                <a:ea typeface="Cambria"/>
              </a:rPr>
              <a:t>Cleaning &amp; standardising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mbria"/>
                <a:ea typeface="Cambria"/>
              </a:rPr>
              <a:t>roles · skills · INR · cities</a:t>
            </a:r>
          </a:p>
        </p:txBody>
      </p:sp>
      <p:sp>
        <p:nvSpPr>
          <p:cNvPr id="15375" name="Right Arrow 15374"/>
          <p:cNvSpPr/>
          <p:nvPr/>
        </p:nvSpPr>
        <p:spPr>
          <a:xfrm>
            <a:off x="20244816" y="6629400"/>
            <a:ext cx="603503" cy="4114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Rounded Rectangle 15375"/>
          <p:cNvSpPr/>
          <p:nvPr/>
        </p:nvSpPr>
        <p:spPr>
          <a:xfrm>
            <a:off x="20958048" y="621792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mbria"/>
                <a:ea typeface="Cambria"/>
              </a:rPr>
              <a:t>Browser web app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mbria"/>
                <a:ea typeface="Cambria"/>
              </a:rPr>
              <a:t>static files, no server</a:t>
            </a:r>
          </a:p>
        </p:txBody>
      </p:sp>
      <p:sp>
        <p:nvSpPr>
          <p:cNvPr id="15377" name="Down Arrow 15376"/>
          <p:cNvSpPr/>
          <p:nvPr/>
        </p:nvSpPr>
        <p:spPr>
          <a:xfrm>
            <a:off x="17620488" y="7498079"/>
            <a:ext cx="548640" cy="32004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10351008" y="786384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A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Skill Scan Lab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14168628" y="786384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A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Career Explorer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17986248" y="786384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A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Role Match Center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21803868" y="786384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A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Job Simulation Arena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10351008" y="886968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A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Skill Gap Analysis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14168628" y="886968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A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Learning Roadmap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17986248" y="886968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A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Command Center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21803868" y="8869680"/>
            <a:ext cx="3634740" cy="868680"/>
          </a:xfrm>
          <a:prstGeom prst="roundRect">
            <a:avLst>
              <a:gd name="adj" fmla="val 12000"/>
            </a:avLst>
          </a:prstGeom>
          <a:solidFill>
            <a:srgbClr val="3D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AI Career Advisor</a:t>
            </a:r>
          </a:p>
        </p:txBody>
      </p:sp>
      <p:sp>
        <p:nvSpPr>
          <p:cNvPr id="15386" name="Down Arrow 15385"/>
          <p:cNvSpPr/>
          <p:nvPr/>
        </p:nvSpPr>
        <p:spPr>
          <a:xfrm>
            <a:off x="17620488" y="9921240"/>
            <a:ext cx="548640" cy="32004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7" name="Rounded Rectangle 15386"/>
          <p:cNvSpPr/>
          <p:nvPr/>
        </p:nvSpPr>
        <p:spPr>
          <a:xfrm>
            <a:off x="10351008" y="10332720"/>
            <a:ext cx="4846320" cy="109728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Role-fit score +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mbria"/>
                <a:ea typeface="Cambria"/>
              </a:rPr>
              <a:t>evidence completeness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15471648" y="10332720"/>
            <a:ext cx="4846320" cy="109728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Weekly learning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mbria"/>
                <a:ea typeface="Cambria"/>
              </a:rPr>
              <a:t>roadmap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20592288" y="10332720"/>
            <a:ext cx="4846320" cy="109728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XP, badges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mbria"/>
                <a:ea typeface="Cambria"/>
              </a:rPr>
              <a:t>progress</a:t>
            </a:r>
          </a:p>
        </p:txBody>
      </p:sp>
      <p:sp>
        <p:nvSpPr>
          <p:cNvPr id="15390" name="Down Arrow 15389"/>
          <p:cNvSpPr/>
          <p:nvPr/>
        </p:nvSpPr>
        <p:spPr>
          <a:xfrm>
            <a:off x="17620488" y="11475720"/>
            <a:ext cx="548640" cy="27432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1" name="Rounded Rectangle 15390"/>
          <p:cNvSpPr/>
          <p:nvPr/>
        </p:nvSpPr>
        <p:spPr>
          <a:xfrm>
            <a:off x="10351008" y="11841480"/>
            <a:ext cx="15087600" cy="109728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0000" rIns="70000" bIns="3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</a:rPr>
              <a:t>Feature table → role-family classifier (23 classes) + salary model (Ridge)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mbria"/>
                <a:ea typeface="Cambria"/>
              </a:rPr>
              <a:t>evaluated on a held-out test split of 1,980 rows against baselines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10351008" y="13213080"/>
            <a:ext cx="1508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A40000"/>
                </a:solidFill>
                <a:latin typeface="Cambria"/>
                <a:ea typeface="Cambria"/>
              </a:rPr>
              <a:t>Algorithms used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10351008" y="13853160"/>
            <a:ext cx="150876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Evidence model: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every skill is saved at level 1–5 as Quiz-, Simulation- or Self-reported evidence.</a:t>
            </a:r>
          </a:p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Weighted role alignment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(deterministic) with a profile-evidence-completeness warning below 40%.</a:t>
            </a:r>
          </a:p>
          <a:p>
            <a:pPr marL="457200" indent="-4572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Rule-based rubric grading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of job simulations; roadmap built from skill deficits and weekly hours.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Cambria"/>
                <a:ea typeface="Cambria"/>
              </a:rPr>
              <a:t>ML models:</a:t>
            </a:r>
            <a:r>
              <a:rPr lang="en-US" sz="3000" dirty="0">
                <a:solidFill>
                  <a:srgbClr val="1A1A1A"/>
                </a:solidFill>
                <a:latin typeface="Cambria"/>
                <a:ea typeface="Cambria"/>
              </a:rPr>
              <a:t> role-family classifier and Ridge salary regression, compared with majority and median baselines.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10351008" y="18105120"/>
            <a:ext cx="1508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A40000"/>
                </a:solidFill>
                <a:latin typeface="Cambria"/>
                <a:ea typeface="Cambria"/>
              </a:rPr>
              <a:t>Equation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10351008" y="18745200"/>
            <a:ext cx="1508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31F33"/>
                </a:solidFill>
                <a:latin typeface="Cambria"/>
                <a:ea typeface="Cambria"/>
              </a:rPr>
              <a:t>Score = [ Σ Wᵢ × min(Dᵢ / Tᵢ, 1.0) / Σ Wᵢ ] × 100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Cambria"/>
                <a:ea typeface="Cambria"/>
              </a:rPr>
              <a:t>W = weight (Critical 1.0, Required 0.8, Preferred 0.5); D = demonstrated level; T = target level.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10351008" y="20391120"/>
            <a:ext cx="1508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A40000"/>
                </a:solidFill>
                <a:latin typeface="Cambria"/>
                <a:ea typeface="Cambria"/>
              </a:rPr>
              <a:t>Application modules (live web app)</a:t>
            </a:r>
          </a:p>
        </p:txBody>
      </p:sp>
      <p:pic>
        <p:nvPicPr>
          <p:cNvPr id="15397" name="Picture 15396" descr="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8" y="21076920"/>
            <a:ext cx="7360920" cy="3466681"/>
          </a:xfrm>
          <a:prstGeom prst="rect">
            <a:avLst/>
          </a:prstGeom>
        </p:spPr>
      </p:pic>
      <p:sp>
        <p:nvSpPr>
          <p:cNvPr id="15398" name="TextBox 15397"/>
          <p:cNvSpPr txBox="1"/>
          <p:nvPr/>
        </p:nvSpPr>
        <p:spPr>
          <a:xfrm>
            <a:off x="10351008" y="24589321"/>
            <a:ext cx="7360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3D Hub: walkable station deck</a:t>
            </a:r>
          </a:p>
        </p:txBody>
      </p:sp>
      <p:pic>
        <p:nvPicPr>
          <p:cNvPr id="15399" name="Picture 15398" descr="explor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7688" y="21076920"/>
            <a:ext cx="7360920" cy="3148646"/>
          </a:xfrm>
          <a:prstGeom prst="rect">
            <a:avLst/>
          </a:prstGeom>
        </p:spPr>
      </p:pic>
      <p:sp>
        <p:nvSpPr>
          <p:cNvPr id="15400" name="TextBox 15399"/>
          <p:cNvSpPr txBox="1"/>
          <p:nvPr/>
        </p:nvSpPr>
        <p:spPr>
          <a:xfrm>
            <a:off x="18077688" y="24271286"/>
            <a:ext cx="7360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Career Explorer: salaries &amp; hiring hubs</a:t>
            </a:r>
          </a:p>
        </p:txBody>
      </p:sp>
      <p:pic>
        <p:nvPicPr>
          <p:cNvPr id="15401" name="Picture 15400" descr="f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25137961"/>
            <a:ext cx="8869680" cy="3592126"/>
          </a:xfrm>
          <a:prstGeom prst="rect">
            <a:avLst/>
          </a:prstGeom>
        </p:spPr>
      </p:pic>
      <p:sp>
        <p:nvSpPr>
          <p:cNvPr id="15402" name="TextBox 15401"/>
          <p:cNvSpPr txBox="1"/>
          <p:nvPr/>
        </p:nvSpPr>
        <p:spPr>
          <a:xfrm>
            <a:off x="10351008" y="28775807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“Check My Fit”: explainable score, 31% / 42% completeness</a:t>
            </a:r>
          </a:p>
        </p:txBody>
      </p:sp>
      <p:pic>
        <p:nvPicPr>
          <p:cNvPr id="15403" name="Picture 15402" descr="advis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86448" y="25137961"/>
            <a:ext cx="5852160" cy="4055952"/>
          </a:xfrm>
          <a:prstGeom prst="rect">
            <a:avLst/>
          </a:prstGeom>
        </p:spPr>
      </p:pic>
      <p:sp>
        <p:nvSpPr>
          <p:cNvPr id="15404" name="TextBox 15403"/>
          <p:cNvSpPr txBox="1"/>
          <p:nvPr/>
        </p:nvSpPr>
        <p:spPr>
          <a:xfrm>
            <a:off x="19586448" y="29239633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Dataset-grounded AI Advisor</a:t>
            </a:r>
          </a:p>
        </p:txBody>
      </p:sp>
      <p:pic>
        <p:nvPicPr>
          <p:cNvPr id="15411" name="Picture cls" descr="Role classifier evaluation: accuracy, macro-F1, F1 by role family, confidence check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862990" y="10972800"/>
            <a:ext cx="8960145" cy="498348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5431" name="Caption 1"/>
          <p:cNvSpPr txBox="1"/>
          <p:nvPr/>
        </p:nvSpPr>
        <p:spPr>
          <a:xfrm>
            <a:off x="26862990" y="16029432"/>
            <a:ext cx="8960145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Role classifier (23 classes, 1,980 test rows): 82.4% accuracy vs 24.7% baseline, macro-F1 0.841; F1 by family and confidence check</a:t>
            </a:r>
          </a:p>
        </p:txBody>
      </p:sp>
      <p:pic>
        <p:nvPicPr>
          <p:cNvPr id="15412" name="Picture mistakes" descr="Ten most common misclassifications of the role classifier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280335" y="10972800"/>
            <a:ext cx="6707691" cy="498348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5432" name="Caption 2"/>
          <p:cNvSpPr txBox="1"/>
          <p:nvPr/>
        </p:nvSpPr>
        <p:spPr>
          <a:xfrm>
            <a:off x="36280335" y="16029432"/>
            <a:ext cx="6707691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Top 10 misclassifications (true → predicted): largest is other → software-eng (46 postings)</a:t>
            </a:r>
          </a:p>
        </p:txBody>
      </p:sp>
      <p:pic>
        <p:nvPicPr>
          <p:cNvPr id="15413" name="Picture salary" descr="Salary model evaluation: actual vs predicted salary and error by salary band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795309" y="16962120"/>
            <a:ext cx="8565047" cy="498348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5433" name="Caption 3"/>
          <p:cNvSpPr txBox="1"/>
          <p:nvPr/>
        </p:nvSpPr>
        <p:spPr>
          <a:xfrm>
            <a:off x="26795309" y="22018752"/>
            <a:ext cx="8565047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Salary model: MAE ₹4.71L vs ₹6.87L baseline, R² 0.423, median error 33.9% vs 56.0%; actual vs predicted and error by band</a:t>
            </a:r>
          </a:p>
        </p:txBody>
      </p:sp>
      <p:pic>
        <p:nvPicPr>
          <p:cNvPr id="15414" name="Picture confusion" descr="Confusion matrix of the role classifier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17556" y="16962120"/>
            <a:ext cx="7238152" cy="498348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5434" name="Caption 4"/>
          <p:cNvSpPr txBox="1"/>
          <p:nvPr/>
        </p:nvSpPr>
        <p:spPr>
          <a:xfrm>
            <a:off x="35817556" y="22018752"/>
            <a:ext cx="7238152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333333"/>
                </a:solidFill>
                <a:latin typeface="Cambria"/>
                <a:ea typeface="Cambria"/>
              </a:rPr>
              <a:t>23 × 23 confusion matrix: 1,631 of 1,980 postings on the diagonal (82.4%)</a:t>
            </a:r>
          </a:p>
        </p:txBody>
      </p:sp>
      <p:sp>
        <p:nvSpPr>
          <p:cNvPr id="15450" name="Findings"/>
          <p:cNvSpPr txBox="1"/>
          <p:nvPr/>
        </p:nvSpPr>
        <p:spPr>
          <a:xfrm>
            <a:off x="26791920" y="23180040"/>
            <a:ext cx="16267176" cy="457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A40000"/>
                </a:solidFill>
                <a:latin typeface="Cambria"/>
                <a:ea typeface="Cambria"/>
              </a:rPr>
              <a:t>What the evaluation graphs show</a:t>
            </a:r>
          </a:p>
          <a:p>
            <a:pPr marL="400000" indent="-4000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600" b="1" dirty="0">
                <a:solidFill>
                  <a:srgbClr val="1A1A1A"/>
                </a:solidFill>
                <a:latin typeface="Cambria"/>
                <a:ea typeface="Cambria"/>
              </a:rPr>
              <a:t>Classifier: </a:t>
            </a:r>
            <a:r>
              <a:rPr lang="en-US" sz="2600" dirty="0">
                <a:solidFill>
                  <a:srgbClr val="1A1A1A"/>
                </a:solidFill>
                <a:latin typeface="Cambria"/>
                <a:ea typeface="Cambria"/>
              </a:rPr>
              <a:t>82.4% accuracy is 3.3× the always-guess baseline (24.7%) and it is well calibrated (mean confidence 80.8%, error 0.021).</a:t>
            </a:r>
          </a:p>
          <a:p>
            <a:pPr marL="400000" indent="-4000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600" b="1" dirty="0">
                <a:solidFill>
                  <a:srgbClr val="1A1A1A"/>
                </a:solidFill>
                <a:latin typeface="Cambria"/>
                <a:ea typeface="Cambria"/>
              </a:rPr>
              <a:t>By family: </a:t>
            </a:r>
            <a:r>
              <a:rPr lang="en-US" sz="2600" dirty="0">
                <a:solidFill>
                  <a:srgbClr val="1A1A1A"/>
                </a:solidFill>
                <a:latin typeface="Cambria"/>
                <a:ea typeface="Cambria"/>
              </a:rPr>
              <a:t>best recall for legal (100%), admin (98%) and operations (95%); weakest for construction (56%), logistics (59%) and manufacturing (60%).</a:t>
            </a:r>
          </a:p>
          <a:p>
            <a:pPr marL="400000" indent="-4000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600" b="1" dirty="0">
                <a:solidFill>
                  <a:srgbClr val="1A1A1A"/>
                </a:solidFill>
                <a:latin typeface="Cambria"/>
                <a:ea typeface="Cambria"/>
              </a:rPr>
              <a:t>Errors: </a:t>
            </a:r>
            <a:r>
              <a:rPr lang="en-US" sz="2600" dirty="0">
                <a:solidFill>
                  <a:srgbClr val="1A1A1A"/>
                </a:solidFill>
                <a:latin typeface="Cambria"/>
                <a:ea typeface="Cambria"/>
              </a:rPr>
              <a:t>mostly involve the mixed “other” class (other ↔ software-eng: 46 + 43 postings).</a:t>
            </a:r>
          </a:p>
          <a:p>
            <a:pPr marL="400000" indent="-4000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600" b="1" dirty="0">
                <a:solidFill>
                  <a:srgbClr val="1A1A1A"/>
                </a:solidFill>
                <a:latin typeface="Cambria"/>
                <a:ea typeface="Cambria"/>
              </a:rPr>
              <a:t>Salary model: </a:t>
            </a:r>
            <a:r>
              <a:rPr lang="en-US" sz="2600" dirty="0">
                <a:solidFill>
                  <a:srgbClr val="1A1A1A"/>
                </a:solidFill>
                <a:latin typeface="Cambria"/>
                <a:ea typeface="Cambria"/>
              </a:rPr>
              <a:t>beats the median guess on every measure but is a rough estimate; it under-predicts very high salaries (₹50L+ band error ₹54.35L).</a:t>
            </a:r>
          </a:p>
        </p:txBody>
      </p:sp>
      <p:sp>
        <p:nvSpPr>
          <p:cNvPr id="15451" name="Code and market"/>
          <p:cNvSpPr txBox="1"/>
          <p:nvPr/>
        </p:nvSpPr>
        <p:spPr>
          <a:xfrm>
            <a:off x="658368" y="16504920"/>
            <a:ext cx="8412480" cy="3017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A40000"/>
                </a:solidFill>
                <a:latin typeface="Cambria"/>
                <a:ea typeface="Cambria"/>
              </a:rPr>
              <a:t>CODE, DEPLOYMENT &amp; MARKET</a:t>
            </a:r>
          </a:p>
          <a:p>
            <a:pPr marL="400000" indent="-4000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Cambria"/>
                <a:ea typeface="Cambria"/>
              </a:rPr>
              <a:t>Open source: </a:t>
            </a:r>
            <a:r>
              <a:rPr lang="en-US" sz="2400" dirty="0">
                <a:solidFill>
                  <a:srgbClr val="1A1A1A"/>
                </a:solidFill>
                <a:latin typeface="Cambria"/>
                <a:ea typeface="Cambria"/>
              </a:rPr>
              <a:t>github.com/jaanvi131313-collab/SkillRadar</a:t>
            </a:r>
          </a:p>
          <a:p>
            <a:pPr marL="400000" indent="-4000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Cambria"/>
                <a:ea typeface="Cambria"/>
              </a:rPr>
              <a:t>Live: </a:t>
            </a:r>
            <a:r>
              <a:rPr lang="en-US" sz="2400" dirty="0">
                <a:solidFill>
                  <a:srgbClr val="1A1A1A"/>
                </a:solidFill>
                <a:latin typeface="Cambria"/>
                <a:ea typeface="Cambria"/>
              </a:rPr>
              <a:t>deployed on Vercel, with a built-in dataset-grounded AI Career Advisor.</a:t>
            </a:r>
          </a:p>
          <a:p>
            <a:pPr marL="400000" indent="-4000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Cambria"/>
                <a:ea typeface="Cambria"/>
              </a:rPr>
              <a:t>Market (illustrative): </a:t>
            </a:r>
            <a:r>
              <a:rPr lang="en-US" sz="2400" dirty="0">
                <a:solidFill>
                  <a:srgbClr val="1A1A1A"/>
                </a:solidFill>
                <a:latin typeface="Cambria"/>
                <a:ea typeface="Cambria"/>
              </a:rPr>
              <a:t>TAM ₹649.5 cr → SAM ₹128.6 cr → SOM ₹1.29 cr (₹150 per student per year assumed; AISHE 2021-22 data).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131F33"/>
      </a:dk1>
      <a:lt1>
        <a:srgbClr val="FFFFFF"/>
      </a:lt1>
      <a:dk2>
        <a:srgbClr val="A40000"/>
      </a:dk2>
      <a:lt2>
        <a:srgbClr val="FAFAFA"/>
      </a:lt2>
      <a:accent1>
        <a:srgbClr val="131F33"/>
      </a:accent1>
      <a:accent2>
        <a:srgbClr val="A40000"/>
      </a:accent2>
      <a:accent3>
        <a:srgbClr val="555555"/>
      </a:accent3>
      <a:accent4>
        <a:srgbClr val="888888"/>
      </a:accent4>
      <a:accent5>
        <a:srgbClr val="3D64A7"/>
      </a:accent5>
      <a:accent6>
        <a:srgbClr val="A40000"/>
      </a:accent6>
      <a:hlink>
        <a:srgbClr val="666666"/>
      </a:hlink>
      <a:folHlink>
        <a:srgbClr val="AAAAA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410CA1B-542D-3244-B814-5E899E0E5892}" vid="{0D1DA440-3E1F-1243-A175-747014F56C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716</Words>
  <Application>Microsoft Office PowerPoint</Application>
  <PresentationFormat>Custom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Bhargav Yagnik</dc:creator>
  <cp:keywords/>
  <dc:description/>
  <cp:lastModifiedBy>jaanvi rai</cp:lastModifiedBy>
  <cp:revision>22</cp:revision>
  <cp:lastPrinted>2009-06-18T18:06:01Z</cp:lastPrinted>
  <dcterms:created xsi:type="dcterms:W3CDTF">2020-11-11T13:08:49Z</dcterms:created>
  <dcterms:modified xsi:type="dcterms:W3CDTF">2026-10-26T19:59:25Z</dcterms:modified>
  <cp:category/>
</cp:coreProperties>
</file>